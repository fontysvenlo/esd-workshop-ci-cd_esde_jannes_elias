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4" r:id="rId5"/>
    <p:sldId id="260" r:id="rId6"/>
    <p:sldId id="261" r:id="rId7"/>
    <p:sldId id="262" r:id="rId8"/>
    <p:sldId id="274" r:id="rId9"/>
    <p:sldId id="263" r:id="rId10"/>
    <p:sldId id="267" r:id="rId11"/>
    <p:sldId id="268" r:id="rId12"/>
    <p:sldId id="265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82EE07C-2542-EDC4-CD2C-085A382BCA7B}" name="Hatzius,Jannes J." initials="HJ" userId="S::520353@student.fontys.nl::85001452-8659-4f0b-9e16-280c179727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1E345-4E77-43FC-8286-D6121DD1359B}" v="2" dt="2025-11-16T21:38:25.2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477" autoAdjust="0"/>
  </p:normalViewPr>
  <p:slideViewPr>
    <p:cSldViewPr snapToGrid="0">
      <p:cViewPr varScale="1">
        <p:scale>
          <a:sx n="93" d="100"/>
          <a:sy n="93" d="100"/>
        </p:scale>
        <p:origin x="1930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ier,Elias E." userId="08c00674-e3df-4d3c-8f22-93ef80494d8c" providerId="ADAL" clId="{0686EBB8-3E0A-4657-A252-7EB8EF628A7F}"/>
    <pc:docChg chg="undo redo custSel addSld delSld modSld">
      <pc:chgData name="Meier,Elias E." userId="08c00674-e3df-4d3c-8f22-93ef80494d8c" providerId="ADAL" clId="{0686EBB8-3E0A-4657-A252-7EB8EF628A7F}" dt="2025-11-16T21:38:27.423" v="3593" actId="20577"/>
      <pc:docMkLst>
        <pc:docMk/>
      </pc:docMkLst>
      <pc:sldChg chg="modSp new mod">
        <pc:chgData name="Meier,Elias E." userId="08c00674-e3df-4d3c-8f22-93ef80494d8c" providerId="ADAL" clId="{0686EBB8-3E0A-4657-A252-7EB8EF628A7F}" dt="2025-11-01T18:22:23.886" v="3288" actId="790"/>
        <pc:sldMkLst>
          <pc:docMk/>
          <pc:sldMk cId="3379112353" sldId="256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379112353" sldId="256"/>
            <ac:spMk id="2" creationId="{EFF253AC-8C63-807B-2E60-1716C0E564F5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379112353" sldId="256"/>
            <ac:spMk id="3" creationId="{C3F2A625-8735-AF05-E72C-30BAEA728FE2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379112353" sldId="256"/>
            <ac:spMk id="4" creationId="{64A4F9E5-F14E-64A0-5605-98E5DD88983D}"/>
          </ac:spMkLst>
        </pc:spChg>
      </pc:sldChg>
      <pc:sldChg chg="modSp new mod">
        <pc:chgData name="Meier,Elias E." userId="08c00674-e3df-4d3c-8f22-93ef80494d8c" providerId="ADAL" clId="{0686EBB8-3E0A-4657-A252-7EB8EF628A7F}" dt="2025-11-16T21:38:27.423" v="3593" actId="20577"/>
        <pc:sldMkLst>
          <pc:docMk/>
          <pc:sldMk cId="3652525180" sldId="257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652525180" sldId="257"/>
            <ac:spMk id="2" creationId="{F5ECF580-F582-B32A-6910-D10C3BF119A5}"/>
          </ac:spMkLst>
        </pc:spChg>
        <pc:spChg chg="mod">
          <ac:chgData name="Meier,Elias E." userId="08c00674-e3df-4d3c-8f22-93ef80494d8c" providerId="ADAL" clId="{0686EBB8-3E0A-4657-A252-7EB8EF628A7F}" dt="2025-11-16T21:38:27.423" v="3593" actId="20577"/>
          <ac:spMkLst>
            <pc:docMk/>
            <pc:sldMk cId="3652525180" sldId="257"/>
            <ac:spMk id="3" creationId="{AF2CB938-2494-2ED8-6DF4-0A32A49E0084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652525180" sldId="257"/>
            <ac:spMk id="4" creationId="{29664E27-616B-2825-F694-C825880A18ED}"/>
          </ac:spMkLst>
        </pc:spChg>
      </pc:sldChg>
      <pc:sldChg chg="addSp delSp modSp new mod">
        <pc:chgData name="Meier,Elias E." userId="08c00674-e3df-4d3c-8f22-93ef80494d8c" providerId="ADAL" clId="{0686EBB8-3E0A-4657-A252-7EB8EF628A7F}" dt="2025-11-01T18:22:23.886" v="3288" actId="790"/>
        <pc:sldMkLst>
          <pc:docMk/>
          <pc:sldMk cId="4045892791" sldId="258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4045892791" sldId="258"/>
            <ac:spMk id="2" creationId="{E3962E89-3FDA-6A5B-B25A-5A37CE26E82A}"/>
          </ac:spMkLst>
        </pc:spChg>
        <pc:spChg chg="add del 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4045892791" sldId="258"/>
            <ac:spMk id="3" creationId="{DE182FD3-9107-8120-98F2-749930E75939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4045892791" sldId="258"/>
            <ac:spMk id="4" creationId="{0D0D6323-B250-34DB-D4F3-6B75D73C59B7}"/>
          </ac:spMkLst>
        </pc:spChg>
      </pc:sldChg>
      <pc:sldChg chg="addSp modSp new mod">
        <pc:chgData name="Meier,Elias E." userId="08c00674-e3df-4d3c-8f22-93ef80494d8c" providerId="ADAL" clId="{0686EBB8-3E0A-4657-A252-7EB8EF628A7F}" dt="2025-11-01T18:22:23.886" v="3288" actId="790"/>
        <pc:sldMkLst>
          <pc:docMk/>
          <pc:sldMk cId="902474428" sldId="260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902474428" sldId="260"/>
            <ac:spMk id="2" creationId="{4C4C4DA3-BF4B-23D0-0DE8-418A2F311475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902474428" sldId="260"/>
            <ac:spMk id="3" creationId="{CF3083A1-446C-2CB5-3C45-9F2B29FDCE4F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902474428" sldId="260"/>
            <ac:spMk id="4" creationId="{7D476E18-CAAE-8F1A-90AB-D44FE509DAF9}"/>
          </ac:spMkLst>
        </pc:spChg>
      </pc:sldChg>
      <pc:sldChg chg="modSp new mod">
        <pc:chgData name="Meier,Elias E." userId="08c00674-e3df-4d3c-8f22-93ef80494d8c" providerId="ADAL" clId="{0686EBB8-3E0A-4657-A252-7EB8EF628A7F}" dt="2025-11-01T18:22:23.886" v="3288" actId="790"/>
        <pc:sldMkLst>
          <pc:docMk/>
          <pc:sldMk cId="3480837197" sldId="261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480837197" sldId="261"/>
            <ac:spMk id="2" creationId="{4B5FB8C5-869D-1397-14E3-AEF3988B998D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480837197" sldId="261"/>
            <ac:spMk id="3" creationId="{A10B97FA-F7F7-CC66-6FC4-3F4BDBED0C44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480837197" sldId="261"/>
            <ac:spMk id="4" creationId="{4D5225E0-75CE-1121-4CD2-F51CFF27AACA}"/>
          </ac:spMkLst>
        </pc:spChg>
      </pc:sldChg>
      <pc:sldChg chg="modSp new mod">
        <pc:chgData name="Meier,Elias E." userId="08c00674-e3df-4d3c-8f22-93ef80494d8c" providerId="ADAL" clId="{0686EBB8-3E0A-4657-A252-7EB8EF628A7F}" dt="2025-11-01T18:22:23.886" v="3288" actId="790"/>
        <pc:sldMkLst>
          <pc:docMk/>
          <pc:sldMk cId="2498072694" sldId="262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498072694" sldId="262"/>
            <ac:spMk id="2" creationId="{E048EA02-D154-F12A-2CFF-C91A18E7840A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498072694" sldId="262"/>
            <ac:spMk id="3" creationId="{E20C4BDF-F650-0A4D-3EE9-3BD6BDE5BEC5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498072694" sldId="262"/>
            <ac:spMk id="4" creationId="{C284B846-B8B9-140A-5F77-4ACFF2BF8F5A}"/>
          </ac:spMkLst>
        </pc:spChg>
      </pc:sldChg>
      <pc:sldChg chg="addSp delSp modSp new mod modNotesTx">
        <pc:chgData name="Meier,Elias E." userId="08c00674-e3df-4d3c-8f22-93ef80494d8c" providerId="ADAL" clId="{0686EBB8-3E0A-4657-A252-7EB8EF628A7F}" dt="2025-11-05T18:24:46.271" v="3535" actId="20577"/>
        <pc:sldMkLst>
          <pc:docMk/>
          <pc:sldMk cId="2223887928" sldId="263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223887928" sldId="263"/>
            <ac:spMk id="2" creationId="{D7EA1522-BB82-4678-89CE-C1F6DA3BEF48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223887928" sldId="263"/>
            <ac:spMk id="4" creationId="{3F07D7A8-EAED-4A35-36B3-745BA5374F42}"/>
          </ac:spMkLst>
        </pc:spChg>
        <pc:graphicFrameChg chg="add mod ord modGraphic">
          <ac:chgData name="Meier,Elias E." userId="08c00674-e3df-4d3c-8f22-93ef80494d8c" providerId="ADAL" clId="{0686EBB8-3E0A-4657-A252-7EB8EF628A7F}" dt="2025-11-01T18:22:23.886" v="3288" actId="790"/>
          <ac:graphicFrameMkLst>
            <pc:docMk/>
            <pc:sldMk cId="2223887928" sldId="263"/>
            <ac:graphicFrameMk id="12" creationId="{72A1A3E6-59CC-D446-A9A3-09A904A3A522}"/>
          </ac:graphicFrameMkLst>
        </pc:graphicFrameChg>
      </pc:sldChg>
      <pc:sldChg chg="modSp new mod modNotesTx">
        <pc:chgData name="Meier,Elias E." userId="08c00674-e3df-4d3c-8f22-93ef80494d8c" providerId="ADAL" clId="{0686EBB8-3E0A-4657-A252-7EB8EF628A7F}" dt="2025-11-06T22:05:44.546" v="3542" actId="20577"/>
        <pc:sldMkLst>
          <pc:docMk/>
          <pc:sldMk cId="2576955495" sldId="264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576955495" sldId="264"/>
            <ac:spMk id="2" creationId="{8EF216EB-EB70-42E7-24BA-B1B755C2ABC5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576955495" sldId="264"/>
            <ac:spMk id="3" creationId="{C1070E86-507D-83DE-6AA1-8A510BCB2B3F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576955495" sldId="264"/>
            <ac:spMk id="4" creationId="{46C655BA-F185-6AC1-7D8D-DD3C20AC502C}"/>
          </ac:spMkLst>
        </pc:spChg>
      </pc:sldChg>
      <pc:sldChg chg="modSp new mod">
        <pc:chgData name="Meier,Elias E." userId="08c00674-e3df-4d3c-8f22-93ef80494d8c" providerId="ADAL" clId="{0686EBB8-3E0A-4657-A252-7EB8EF628A7F}" dt="2025-11-05T18:17:52.631" v="3534" actId="20577"/>
        <pc:sldMkLst>
          <pc:docMk/>
          <pc:sldMk cId="4029117022" sldId="265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4029117022" sldId="265"/>
            <ac:spMk id="2" creationId="{2CF8C690-94D6-0824-53BE-C6999936315C}"/>
          </ac:spMkLst>
        </pc:spChg>
        <pc:spChg chg="mod">
          <ac:chgData name="Meier,Elias E." userId="08c00674-e3df-4d3c-8f22-93ef80494d8c" providerId="ADAL" clId="{0686EBB8-3E0A-4657-A252-7EB8EF628A7F}" dt="2025-11-05T18:17:52.631" v="3534" actId="20577"/>
          <ac:spMkLst>
            <pc:docMk/>
            <pc:sldMk cId="4029117022" sldId="265"/>
            <ac:spMk id="3" creationId="{E6C1F2C7-549B-3F3A-F9B4-AB78C4682950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4029117022" sldId="265"/>
            <ac:spMk id="4" creationId="{51197CF8-5105-4895-153F-A234CCD365D4}"/>
          </ac:spMkLst>
        </pc:spChg>
      </pc:sldChg>
      <pc:sldChg chg="addSp delSp modSp new mod setBg">
        <pc:chgData name="Meier,Elias E." userId="08c00674-e3df-4d3c-8f22-93ef80494d8c" providerId="ADAL" clId="{0686EBB8-3E0A-4657-A252-7EB8EF628A7F}" dt="2025-11-01T18:22:23.886" v="3288" actId="790"/>
        <pc:sldMkLst>
          <pc:docMk/>
          <pc:sldMk cId="3227110087" sldId="267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227110087" sldId="267"/>
            <ac:spMk id="2" creationId="{CB4C2251-F791-DD7A-8D5A-56F350E3C222}"/>
          </ac:spMkLst>
        </pc:spChg>
        <pc:spChg chg="mod or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227110087" sldId="267"/>
            <ac:spMk id="3" creationId="{915A8EE2-B5DD-70CF-B443-220FCEC10F43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227110087" sldId="267"/>
            <ac:spMk id="4" creationId="{BD54987E-4F14-B796-7345-5FFCE589C2AA}"/>
          </ac:spMkLst>
        </pc:spChg>
        <pc:picChg chg="add mod">
          <ac:chgData name="Meier,Elias E." userId="08c00674-e3df-4d3c-8f22-93ef80494d8c" providerId="ADAL" clId="{0686EBB8-3E0A-4657-A252-7EB8EF628A7F}" dt="2025-10-31T23:01:06.582" v="2439" actId="1076"/>
          <ac:picMkLst>
            <pc:docMk/>
            <pc:sldMk cId="3227110087" sldId="267"/>
            <ac:picMk id="6" creationId="{F8B7A5B5-9AAE-0F78-41CC-BE1345558467}"/>
          </ac:picMkLst>
        </pc:picChg>
      </pc:sldChg>
      <pc:sldChg chg="addSp modSp new mod">
        <pc:chgData name="Meier,Elias E." userId="08c00674-e3df-4d3c-8f22-93ef80494d8c" providerId="ADAL" clId="{0686EBB8-3E0A-4657-A252-7EB8EF628A7F}" dt="2025-11-01T18:22:23.886" v="3288" actId="790"/>
        <pc:sldMkLst>
          <pc:docMk/>
          <pc:sldMk cId="1027019576" sldId="268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1027019576" sldId="268"/>
            <ac:spMk id="2" creationId="{72C1BB0E-7413-7D41-C206-61720A568ABE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1027019576" sldId="268"/>
            <ac:spMk id="3" creationId="{113132C5-F13A-DE9D-6AB7-ABF08D58E3B3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1027019576" sldId="268"/>
            <ac:spMk id="4" creationId="{65161F7C-1A90-97DD-5CA3-A39448D8A3E1}"/>
          </ac:spMkLst>
        </pc:spChg>
        <pc:picChg chg="add mod">
          <ac:chgData name="Meier,Elias E." userId="08c00674-e3df-4d3c-8f22-93ef80494d8c" providerId="ADAL" clId="{0686EBB8-3E0A-4657-A252-7EB8EF628A7F}" dt="2025-10-31T23:08:07.752" v="2456" actId="14100"/>
          <ac:picMkLst>
            <pc:docMk/>
            <pc:sldMk cId="1027019576" sldId="268"/>
            <ac:picMk id="6" creationId="{284446B8-3834-7E9E-D924-B392E53BCB56}"/>
          </ac:picMkLst>
        </pc:picChg>
      </pc:sldChg>
      <pc:sldChg chg="modSp new del mod">
        <pc:chgData name="Meier,Elias E." userId="08c00674-e3df-4d3c-8f22-93ef80494d8c" providerId="ADAL" clId="{0686EBB8-3E0A-4657-A252-7EB8EF628A7F}" dt="2025-11-16T21:37:59.834" v="3579" actId="47"/>
        <pc:sldMkLst>
          <pc:docMk/>
          <pc:sldMk cId="2977623639" sldId="269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977623639" sldId="269"/>
            <ac:spMk id="2" creationId="{5D46F71F-8C39-E6C8-006C-D661AAA1A543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977623639" sldId="269"/>
            <ac:spMk id="3" creationId="{8CD7D2B5-856B-9CA4-9A4C-F38D7C6ED3E2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977623639" sldId="269"/>
            <ac:spMk id="4" creationId="{8EFD1F2A-0039-851B-B902-B157A7F9A2B3}"/>
          </ac:spMkLst>
        </pc:spChg>
      </pc:sldChg>
      <pc:sldChg chg="modSp new mod modNotesTx">
        <pc:chgData name="Meier,Elias E." userId="08c00674-e3df-4d3c-8f22-93ef80494d8c" providerId="ADAL" clId="{0686EBB8-3E0A-4657-A252-7EB8EF628A7F}" dt="2025-11-16T21:36:50.984" v="3578" actId="108"/>
        <pc:sldMkLst>
          <pc:docMk/>
          <pc:sldMk cId="3478935717" sldId="270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478935717" sldId="270"/>
            <ac:spMk id="2" creationId="{17206DD5-ADFE-333F-0E14-1CB29714A821}"/>
          </ac:spMkLst>
        </pc:spChg>
        <pc:spChg chg="mod">
          <ac:chgData name="Meier,Elias E." userId="08c00674-e3df-4d3c-8f22-93ef80494d8c" providerId="ADAL" clId="{0686EBB8-3E0A-4657-A252-7EB8EF628A7F}" dt="2025-11-16T21:36:50.984" v="3578" actId="108"/>
          <ac:spMkLst>
            <pc:docMk/>
            <pc:sldMk cId="3478935717" sldId="270"/>
            <ac:spMk id="3" creationId="{96C069AE-10A2-1480-5F5B-5B301EC3BAB7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3478935717" sldId="270"/>
            <ac:spMk id="4" creationId="{1CDD13A6-062B-72F6-8C05-8657FA35129B}"/>
          </ac:spMkLst>
        </pc:spChg>
      </pc:sldChg>
      <pc:sldChg chg="modSp new mod modNotesTx">
        <pc:chgData name="Meier,Elias E." userId="08c00674-e3df-4d3c-8f22-93ef80494d8c" providerId="ADAL" clId="{0686EBB8-3E0A-4657-A252-7EB8EF628A7F}" dt="2025-11-01T18:22:23.886" v="3288" actId="790"/>
        <pc:sldMkLst>
          <pc:docMk/>
          <pc:sldMk cId="61773435" sldId="271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61773435" sldId="271"/>
            <ac:spMk id="2" creationId="{0A57FCC8-B86C-3051-80B9-888D3500B1B5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61773435" sldId="271"/>
            <ac:spMk id="3" creationId="{B3F94A3C-9BF2-9072-C4F1-8A01344566A9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61773435" sldId="271"/>
            <ac:spMk id="4" creationId="{05D5D173-BCA1-6F98-07D6-3048889AE134}"/>
          </ac:spMkLst>
        </pc:spChg>
      </pc:sldChg>
      <pc:sldChg chg="modSp new mod modNotesTx">
        <pc:chgData name="Meier,Elias E." userId="08c00674-e3df-4d3c-8f22-93ef80494d8c" providerId="ADAL" clId="{0686EBB8-3E0A-4657-A252-7EB8EF628A7F}" dt="2025-11-01T18:22:23.886" v="3288" actId="790"/>
        <pc:sldMkLst>
          <pc:docMk/>
          <pc:sldMk cId="2641328903" sldId="272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641328903" sldId="272"/>
            <ac:spMk id="2" creationId="{2F704E2A-3E16-CFCA-8448-BA519B63FF8B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641328903" sldId="272"/>
            <ac:spMk id="3" creationId="{C8CBF442-5544-4E5B-E2C8-20F4A77B37D5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2641328903" sldId="272"/>
            <ac:spMk id="4" creationId="{9D04CC35-A242-061B-7AD6-C82EF2F2EEDA}"/>
          </ac:spMkLst>
        </pc:spChg>
      </pc:sldChg>
      <pc:sldChg chg="modSp new mod modNotesTx">
        <pc:chgData name="Meier,Elias E." userId="08c00674-e3df-4d3c-8f22-93ef80494d8c" providerId="ADAL" clId="{0686EBB8-3E0A-4657-A252-7EB8EF628A7F}" dt="2025-11-01T18:25:53.362" v="3472" actId="113"/>
        <pc:sldMkLst>
          <pc:docMk/>
          <pc:sldMk cId="1895630647" sldId="273"/>
        </pc:sldMkLst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1895630647" sldId="273"/>
            <ac:spMk id="2" creationId="{4EA7CF4C-4686-4617-A393-135C48DCE94B}"/>
          </ac:spMkLst>
        </pc:spChg>
        <pc:spChg chg="mod">
          <ac:chgData name="Meier,Elias E." userId="08c00674-e3df-4d3c-8f22-93ef80494d8c" providerId="ADAL" clId="{0686EBB8-3E0A-4657-A252-7EB8EF628A7F}" dt="2025-11-01T18:25:06.451" v="3362" actId="113"/>
          <ac:spMkLst>
            <pc:docMk/>
            <pc:sldMk cId="1895630647" sldId="273"/>
            <ac:spMk id="3" creationId="{B17C8B7A-2438-4505-3EC8-DDA6056335D7}"/>
          </ac:spMkLst>
        </pc:spChg>
        <pc:spChg chg="mod">
          <ac:chgData name="Meier,Elias E." userId="08c00674-e3df-4d3c-8f22-93ef80494d8c" providerId="ADAL" clId="{0686EBB8-3E0A-4657-A252-7EB8EF628A7F}" dt="2025-11-01T18:22:23.886" v="3288" actId="790"/>
          <ac:spMkLst>
            <pc:docMk/>
            <pc:sldMk cId="1895630647" sldId="273"/>
            <ac:spMk id="4" creationId="{521DFAAC-7345-DB4F-8089-AC012928846E}"/>
          </ac:spMkLst>
        </pc:spChg>
      </pc:sldChg>
      <pc:sldChg chg="modNotesTx">
        <pc:chgData name="Meier,Elias E." userId="08c00674-e3df-4d3c-8f22-93ef80494d8c" providerId="ADAL" clId="{0686EBB8-3E0A-4657-A252-7EB8EF628A7F}" dt="2025-11-06T22:05:59.752" v="3551" actId="5793"/>
        <pc:sldMkLst>
          <pc:docMk/>
          <pc:sldMk cId="2530059952" sldId="274"/>
        </pc:sldMkLst>
      </pc:sldChg>
    </pc:docChg>
  </pc:docChgLst>
  <pc:docChgLst>
    <pc:chgData name="Hatzius,Jannes J." userId="S::520353@student.fontys.nl::85001452-8659-4f0b-9e16-280c1797278a" providerId="AD" clId="Web-{262B25AA-CA32-CEC0-15DA-3D9065F3A9BD}"/>
    <pc:docChg chg="mod addSld modSld">
      <pc:chgData name="Hatzius,Jannes J." userId="S::520353@student.fontys.nl::85001452-8659-4f0b-9e16-280c1797278a" providerId="AD" clId="Web-{262B25AA-CA32-CEC0-15DA-3D9065F3A9BD}" dt="2025-11-02T21:15:56.774" v="95"/>
      <pc:docMkLst>
        <pc:docMk/>
      </pc:docMkLst>
      <pc:sldChg chg="modSp">
        <pc:chgData name="Hatzius,Jannes J." userId="S::520353@student.fontys.nl::85001452-8659-4f0b-9e16-280c1797278a" providerId="AD" clId="Web-{262B25AA-CA32-CEC0-15DA-3D9065F3A9BD}" dt="2025-11-02T21:06:37.434" v="43" actId="20577"/>
        <pc:sldMkLst>
          <pc:docMk/>
          <pc:sldMk cId="4029117022" sldId="265"/>
        </pc:sldMkLst>
        <pc:spChg chg="mod">
          <ac:chgData name="Hatzius,Jannes J." userId="S::520353@student.fontys.nl::85001452-8659-4f0b-9e16-280c1797278a" providerId="AD" clId="Web-{262B25AA-CA32-CEC0-15DA-3D9065F3A9BD}" dt="2025-11-02T21:06:37.434" v="43" actId="20577"/>
          <ac:spMkLst>
            <pc:docMk/>
            <pc:sldMk cId="4029117022" sldId="265"/>
            <ac:spMk id="3" creationId="{E6C1F2C7-549B-3F3A-F9B4-AB78C4682950}"/>
          </ac:spMkLst>
        </pc:spChg>
      </pc:sldChg>
      <pc:sldChg chg="modSp new modNotes">
        <pc:chgData name="Hatzius,Jannes J." userId="S::520353@student.fontys.nl::85001452-8659-4f0b-9e16-280c1797278a" providerId="AD" clId="Web-{262B25AA-CA32-CEC0-15DA-3D9065F3A9BD}" dt="2025-11-02T21:15:56.774" v="95"/>
        <pc:sldMkLst>
          <pc:docMk/>
          <pc:sldMk cId="2530059952" sldId="274"/>
        </pc:sldMkLst>
        <pc:spChg chg="mod">
          <ac:chgData name="Hatzius,Jannes J." userId="S::520353@student.fontys.nl::85001452-8659-4f0b-9e16-280c1797278a" providerId="AD" clId="Web-{262B25AA-CA32-CEC0-15DA-3D9065F3A9BD}" dt="2025-11-02T21:07:01.263" v="47" actId="20577"/>
          <ac:spMkLst>
            <pc:docMk/>
            <pc:sldMk cId="2530059952" sldId="274"/>
            <ac:spMk id="2" creationId="{DA66FFBC-01F2-62FD-39B8-93CAEC242435}"/>
          </ac:spMkLst>
        </pc:spChg>
        <pc:spChg chg="mod">
          <ac:chgData name="Hatzius,Jannes J." userId="S::520353@student.fontys.nl::85001452-8659-4f0b-9e16-280c1797278a" providerId="AD" clId="Web-{262B25AA-CA32-CEC0-15DA-3D9065F3A9BD}" dt="2025-11-02T21:15:43.883" v="94" actId="20577"/>
          <ac:spMkLst>
            <pc:docMk/>
            <pc:sldMk cId="2530059952" sldId="274"/>
            <ac:spMk id="3" creationId="{A690E5C8-0057-B6BF-B829-FDFA0179D21C}"/>
          </ac:spMkLst>
        </pc:spChg>
      </pc:sldChg>
    </pc:docChg>
  </pc:docChgLst>
  <pc:docChgLst>
    <pc:chgData name="Meier,Elias E." userId="08c00674-e3df-4d3c-8f22-93ef80494d8c" providerId="ADAL" clId="{91EC36EC-100B-4EA4-A0CD-082152DB8199}"/>
    <pc:docChg chg="custSel modSld">
      <pc:chgData name="Meier,Elias E." userId="08c00674-e3df-4d3c-8f22-93ef80494d8c" providerId="ADAL" clId="{91EC36EC-100B-4EA4-A0CD-082152DB8199}" dt="2025-11-08T16:19:51.820" v="11" actId="20577"/>
      <pc:docMkLst>
        <pc:docMk/>
      </pc:docMkLst>
      <pc:sldChg chg="modSp mod">
        <pc:chgData name="Meier,Elias E." userId="08c00674-e3df-4d3c-8f22-93ef80494d8c" providerId="ADAL" clId="{91EC36EC-100B-4EA4-A0CD-082152DB8199}" dt="2025-11-08T14:52:21.149" v="1" actId="313"/>
        <pc:sldMkLst>
          <pc:docMk/>
          <pc:sldMk cId="2576955495" sldId="264"/>
        </pc:sldMkLst>
        <pc:spChg chg="mod">
          <ac:chgData name="Meier,Elias E." userId="08c00674-e3df-4d3c-8f22-93ef80494d8c" providerId="ADAL" clId="{91EC36EC-100B-4EA4-A0CD-082152DB8199}" dt="2025-11-08T14:52:21.149" v="1" actId="313"/>
          <ac:spMkLst>
            <pc:docMk/>
            <pc:sldMk cId="2576955495" sldId="264"/>
            <ac:spMk id="3" creationId="{C1070E86-507D-83DE-6AA1-8A510BCB2B3F}"/>
          </ac:spMkLst>
        </pc:spChg>
      </pc:sldChg>
      <pc:sldChg chg="modNotesTx">
        <pc:chgData name="Meier,Elias E." userId="08c00674-e3df-4d3c-8f22-93ef80494d8c" providerId="ADAL" clId="{91EC36EC-100B-4EA4-A0CD-082152DB8199}" dt="2025-11-08T16:19:51.820" v="11" actId="20577"/>
        <pc:sldMkLst>
          <pc:docMk/>
          <pc:sldMk cId="2530059952" sldId="2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ED387-CEC8-4293-A47F-82F411C8917C}" type="datetimeFigureOut">
              <a:rPr lang="en-GB" smtClean="0"/>
              <a:t>16/11/2025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C58304-4417-43CA-9D23-BC9519D42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411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https://medium.com/@DiggerHQ/a-brief-history-of-ci-cd-tooling-5a67c2638f3a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1120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https://medium.com/@DiggerHQ/a-brief-history-of-ci-cd-tooling-5a67c2638f3a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7762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https://medium.com/@DiggerHQ/a-brief-history-of-ci-cd-tooling-5a67c2638f3a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723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https://medium.com/@DiggerHQ/a-brief-history-of-ci-cd-tooling-5a67c2638f3a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357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https://medium.com/@DiggerHQ/a-brief-history-of-ci-cd-tooling-5a67c2638f3a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148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A recent study shows that 83% percent of developers are participating in Dev Op activities regularly</a:t>
            </a:r>
          </a:p>
          <a:p>
            <a:endParaRPr lang="en-US" dirty="0">
              <a:solidFill>
                <a:srgbClr val="333333"/>
              </a:solidFill>
            </a:endParaRPr>
          </a:p>
          <a:p>
            <a:r>
              <a:rPr lang="de-DE"/>
              <a:t>https://cd.foundation/state-of-cicd-2024/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986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https://www.dataspark.de/blog/neues-von-dataspark-in-unserem-blog-1</a:t>
            </a:r>
            <a:r>
              <a:rPr lang="en-GB"/>
              <a:t>/ci-cd-verstehen-der-schlussel-zu-schnelleren-sicheren-software-releases-31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787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https://agilemanifesto.org/iso/de/manifesto.html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088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https://t2informatik.de/wissen-kompakt/continuous-delivery/#:~:text=Continuous%20Delivery%20%E2%80%93%20die%20Perfektionierung%20der,ein%20Fundament%20f%C3%BCr%20Continuous%20Delivery.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1781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00574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dirty="0" err="1"/>
              <a:t>GitOps</a:t>
            </a:r>
            <a:r>
              <a:rPr lang="en-GB" dirty="0"/>
              <a:t> utilizes practices from CI/CD, where </a:t>
            </a:r>
            <a:r>
              <a:rPr lang="en-GB" b="1" dirty="0"/>
              <a:t>Git is not only for code</a:t>
            </a:r>
            <a:r>
              <a:rPr lang="en-GB" dirty="0"/>
              <a:t>, but also for managing </a:t>
            </a:r>
            <a:r>
              <a:rPr lang="en-GB" b="1" dirty="0"/>
              <a:t>infrastructure and deployments</a:t>
            </a:r>
            <a:r>
              <a:rPr lang="en-GB" dirty="0"/>
              <a:t>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dirty="0"/>
              <a:t>The idea: </a:t>
            </a:r>
            <a:r>
              <a:rPr lang="en-GB" i="1" dirty="0"/>
              <a:t>Everything — also configurations files — are stored as code in Git.</a:t>
            </a:r>
            <a:endParaRPr lang="en-GB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dirty="0"/>
              <a:t>This makes Git the </a:t>
            </a:r>
            <a:r>
              <a:rPr lang="en-GB" b="1" dirty="0"/>
              <a:t>single source of truth</a:t>
            </a:r>
            <a:r>
              <a:rPr lang="en-GB" dirty="0"/>
              <a:t>, meaning: what’s in Git is exactly what should be running in the system.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Automation tools</a:t>
            </a:r>
            <a:r>
              <a:rPr lang="en-GB" dirty="0"/>
              <a:t> </a:t>
            </a:r>
            <a:r>
              <a:rPr lang="en-GB" i="1" dirty="0"/>
              <a:t>(like </a:t>
            </a:r>
            <a:r>
              <a:rPr lang="en-GB" i="1" dirty="0" err="1"/>
              <a:t>ArgoCD</a:t>
            </a:r>
            <a:r>
              <a:rPr lang="en-GB" i="1" dirty="0"/>
              <a:t> or Flux) </a:t>
            </a:r>
            <a:r>
              <a:rPr lang="en-GB" dirty="0"/>
              <a:t>automatically read the Git repository and make sure the real infrastructure matches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i="1" dirty="0"/>
              <a:t>So instead of pushing changes from the CI/CD pipeline, </a:t>
            </a:r>
            <a:r>
              <a:rPr lang="en-GB" b="1" i="0" dirty="0" err="1"/>
              <a:t>GitOps</a:t>
            </a:r>
            <a:r>
              <a:rPr lang="en-GB" b="1" i="0" dirty="0"/>
              <a:t> pulls changes automatically</a:t>
            </a:r>
            <a:r>
              <a:rPr lang="en-GB" i="0" dirty="0"/>
              <a:t> </a:t>
            </a:r>
            <a:r>
              <a:rPr lang="en-GB" i="1" dirty="0"/>
              <a:t>— this is called the </a:t>
            </a:r>
            <a:r>
              <a:rPr lang="en-GB" b="1" i="1" dirty="0"/>
              <a:t>pull model</a:t>
            </a:r>
            <a:r>
              <a:rPr lang="en-GB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b="1" dirty="0"/>
              <a:t>Benefits:</a:t>
            </a:r>
            <a:endParaRPr lang="en-GB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i="1" dirty="0"/>
              <a:t>Easier rollbacks (just revert a Git commit)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GB" i="1" dirty="0"/>
              <a:t>Consistent environments (no manual configuration)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https://about.gitlab.com/topics/gitops/ (partly </a:t>
            </a:r>
            <a:r>
              <a:rPr lang="en-GB" i="1" dirty="0"/>
              <a:t>not everything</a:t>
            </a:r>
            <a:r>
              <a:rPr lang="en-GB" dirty="0"/>
              <a:t>)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4817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>
                <a:effectLst/>
              </a:rPr>
              <a:t>1. Frequent commits</a:t>
            </a:r>
          </a:p>
          <a:p>
            <a:pPr marL="0" indent="0">
              <a:buNone/>
            </a:pPr>
            <a:r>
              <a:rPr lang="en-GB" b="1" dirty="0">
                <a:effectLst/>
              </a:rPr>
              <a:t> </a:t>
            </a:r>
            <a:r>
              <a:rPr lang="en-GB" dirty="0"/>
              <a:t>This allows for easier identification and resolution of conflicts, reducing the risk of code integration issues.</a:t>
            </a:r>
          </a:p>
          <a:p>
            <a:pPr marL="0" indent="0">
              <a:buNone/>
            </a:pPr>
            <a:endParaRPr lang="en-GB" b="1" dirty="0">
              <a:effectLst/>
            </a:endParaRPr>
          </a:p>
          <a:p>
            <a:r>
              <a:rPr lang="en-GB" b="1" dirty="0">
                <a:effectLst/>
              </a:rPr>
              <a:t>3. Embrace Continuous Integration</a:t>
            </a:r>
          </a:p>
          <a:p>
            <a:r>
              <a:rPr lang="en-GB" dirty="0">
                <a:effectLst/>
              </a:rPr>
              <a:t>Integrate code changes frequently to detect bugs and conflicts early on. </a:t>
            </a:r>
            <a:r>
              <a:rPr lang="en-GB" dirty="0">
                <a:effectLst/>
                <a:sym typeface="Wingdings" panose="05000000000000000000" pitchFamily="2" charset="2"/>
              </a:rPr>
              <a:t> </a:t>
            </a:r>
            <a:r>
              <a:rPr lang="en-GB" dirty="0">
                <a:effectLst/>
              </a:rPr>
              <a:t>Therefore, our CI, runs at every commit in every branch</a:t>
            </a:r>
          </a:p>
          <a:p>
            <a:endParaRPr lang="en-GB" dirty="0">
              <a:effectLst/>
            </a:endParaRPr>
          </a:p>
          <a:p>
            <a:r>
              <a:rPr lang="en-GB" b="1" dirty="0">
                <a:effectLst/>
              </a:rPr>
              <a:t>4. Write Comprehensive Tests</a:t>
            </a:r>
          </a:p>
          <a:p>
            <a:r>
              <a:rPr lang="en-GB" dirty="0">
                <a:effectLst/>
              </a:rPr>
              <a:t>Create a robust suite of unit, integration, and end-to-end tests to ensure the quality of your code. Automated testing frameworks like JUnit or Selenium can help streamline this process. </a:t>
            </a:r>
            <a:r>
              <a:rPr lang="en-GB" dirty="0">
                <a:effectLst/>
                <a:sym typeface="Wingdings" panose="05000000000000000000" pitchFamily="2" charset="2"/>
              </a:rPr>
              <a:t> </a:t>
            </a:r>
            <a:r>
              <a:rPr lang="en-GB" dirty="0" err="1">
                <a:effectLst/>
                <a:sym typeface="Wingdings" panose="05000000000000000000" pitchFamily="2" charset="2"/>
              </a:rPr>
              <a:t>Otherwiese</a:t>
            </a:r>
            <a:r>
              <a:rPr lang="en-GB" dirty="0">
                <a:effectLst/>
                <a:sym typeface="Wingdings" panose="05000000000000000000" pitchFamily="2" charset="2"/>
              </a:rPr>
              <a:t> the CI losses is sense</a:t>
            </a:r>
          </a:p>
          <a:p>
            <a:endParaRPr lang="en-GB" dirty="0">
              <a:effectLst/>
              <a:sym typeface="Wingdings" panose="05000000000000000000" pitchFamily="2" charset="2"/>
            </a:endParaRPr>
          </a:p>
          <a:p>
            <a:r>
              <a:rPr lang="en-GB" dirty="0">
                <a:effectLst/>
                <a:sym typeface="Wingdings" panose="05000000000000000000" pitchFamily="2" charset="2"/>
              </a:rPr>
              <a:t>4. Fast Feedback</a:t>
            </a:r>
          </a:p>
          <a:p>
            <a:r>
              <a:rPr lang="en-GB" dirty="0">
                <a:effectLst/>
                <a:sym typeface="Wingdings" panose="05000000000000000000" pitchFamily="2" charset="2"/>
              </a:rPr>
              <a:t>On default, when using GitHub Actions</a:t>
            </a:r>
            <a:endParaRPr lang="en-GB" dirty="0">
              <a:effectLst/>
            </a:endParaRPr>
          </a:p>
          <a:p>
            <a:endParaRPr lang="en-GB" dirty="0">
              <a:effectLst/>
            </a:endParaRPr>
          </a:p>
          <a:p>
            <a:endParaRPr lang="en-GB" dirty="0"/>
          </a:p>
          <a:p>
            <a:r>
              <a:rPr lang="en-GB" dirty="0"/>
              <a:t>https://zeet.co/blog/cicd-pipeline-best-practices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03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 err="1"/>
              <a:t>Infrastructre</a:t>
            </a:r>
            <a:r>
              <a:rPr lang="en-GB" b="1" dirty="0"/>
              <a:t> as Code (</a:t>
            </a:r>
            <a:r>
              <a:rPr lang="en-GB" b="1" dirty="0" err="1"/>
              <a:t>IaC</a:t>
            </a:r>
            <a:r>
              <a:rPr lang="en-GB" b="1" dirty="0"/>
              <a:t>)</a:t>
            </a:r>
          </a:p>
          <a:p>
            <a:r>
              <a:rPr lang="en-GB" dirty="0"/>
              <a:t>Use </a:t>
            </a:r>
            <a:r>
              <a:rPr lang="en-GB" dirty="0" err="1"/>
              <a:t>IaC</a:t>
            </a:r>
            <a:r>
              <a:rPr lang="en-GB" dirty="0"/>
              <a:t> tools like Terraform or CloudFormation to define and manage the infrastructure required for deployment.  </a:t>
            </a:r>
            <a:r>
              <a:rPr lang="en-GB" dirty="0">
                <a:sym typeface="Wingdings" panose="05000000000000000000" pitchFamily="2" charset="2"/>
              </a:rPr>
              <a:t> </a:t>
            </a:r>
            <a:r>
              <a:rPr lang="en-GB" dirty="0" err="1">
                <a:sym typeface="Wingdings" panose="05000000000000000000" pitchFamily="2" charset="2"/>
              </a:rPr>
              <a:t>GitOps</a:t>
            </a:r>
            <a:endParaRPr lang="en-GB" dirty="0">
              <a:sym typeface="Wingdings" panose="05000000000000000000" pitchFamily="2" charset="2"/>
            </a:endParaRPr>
          </a:p>
          <a:p>
            <a:endParaRPr lang="en-GB" dirty="0">
              <a:sym typeface="Wingdings" panose="05000000000000000000" pitchFamily="2" charset="2"/>
            </a:endParaRPr>
          </a:p>
          <a:p>
            <a:r>
              <a:rPr lang="en-GB" b="1" dirty="0">
                <a:effectLst/>
              </a:rPr>
              <a:t>3. Blue/Green Deployments</a:t>
            </a:r>
          </a:p>
          <a:p>
            <a:r>
              <a:rPr lang="en-GB" dirty="0">
                <a:effectLst/>
              </a:rPr>
              <a:t>Implement blue/green deployments, where a new version of the software is deployed to a separate environment before switching traffic to it. This allows for seamless rollbacks in case of issues and minimizes downtime for end users.</a:t>
            </a:r>
          </a:p>
          <a:p>
            <a:endParaRPr lang="en-GB" dirty="0">
              <a:effectLst/>
            </a:endParaRPr>
          </a:p>
          <a:p>
            <a:r>
              <a:rPr lang="en-GB" b="1" dirty="0">
                <a:effectLst/>
              </a:rPr>
              <a:t>4. Canary Releases</a:t>
            </a:r>
          </a:p>
          <a:p>
            <a:r>
              <a:rPr lang="en-GB" dirty="0">
                <a:effectLst/>
              </a:rPr>
              <a:t>Gradually roll out new features or changes to a subset of users or servers to monitor their impact before full deployment. This minimizes the risk of widespread issues and allows for fine-tuning before reaching a wider audience.</a:t>
            </a:r>
          </a:p>
          <a:p>
            <a:endParaRPr lang="en-GB" dirty="0">
              <a:effectLst/>
            </a:endParaRPr>
          </a:p>
          <a:p>
            <a:r>
              <a:rPr lang="en-GB" dirty="0">
                <a:effectLst/>
              </a:rPr>
              <a:t>https://zeet.co/blog/cicd-pipeline-best-practices#continuous-integration-ci-best-practices</a:t>
            </a:r>
          </a:p>
          <a:p>
            <a:endParaRPr lang="en-GB" dirty="0">
              <a:effectLst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244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Key Performance Indicators</a:t>
            </a:r>
          </a:p>
          <a:p>
            <a:r>
              <a:rPr lang="en-GB" dirty="0"/>
              <a:t>Define and track KPIs related to build times, test coverage, deployment frequency, and overall pipeline efficiency.</a:t>
            </a:r>
          </a:p>
          <a:p>
            <a:endParaRPr lang="en-GB" dirty="0"/>
          </a:p>
          <a:p>
            <a:r>
              <a:rPr lang="en-GB" b="1" dirty="0"/>
              <a:t>Automated Monitoring</a:t>
            </a:r>
          </a:p>
          <a:p>
            <a:r>
              <a:rPr lang="en-GB" dirty="0">
                <a:effectLst/>
              </a:rPr>
              <a:t>Implement automated monitoring tools to track the performance and health of the CI/CD pipeline, including build failures, test coverage, deployment success rates, and system resource utilization. This allows for proactive identification and resolution of issues.</a:t>
            </a:r>
          </a:p>
          <a:p>
            <a:endParaRPr lang="en-GB" b="0" dirty="0"/>
          </a:p>
          <a:p>
            <a:r>
              <a:rPr lang="en-GB" b="1" dirty="0"/>
              <a:t>Retrospective and Continus Improvement</a:t>
            </a:r>
          </a:p>
          <a:p>
            <a:r>
              <a:rPr lang="en-GB" b="0" dirty="0"/>
              <a:t>Can be mentioned in our retrospective meeting </a:t>
            </a:r>
            <a:r>
              <a:rPr lang="en-GB" b="0" dirty="0">
                <a:sym typeface="Wingdings" panose="05000000000000000000" pitchFamily="2" charset="2"/>
              </a:rPr>
              <a:t> </a:t>
            </a:r>
            <a:r>
              <a:rPr lang="en-GB" dirty="0"/>
              <a:t>to gather feedback from the development team and identify areas for improvement in the CI/CD pipeline.</a:t>
            </a:r>
            <a:endParaRPr lang="en-GB" b="0" dirty="0"/>
          </a:p>
          <a:p>
            <a:endParaRPr lang="en-GB" dirty="0"/>
          </a:p>
          <a:p>
            <a:r>
              <a:rPr lang="en-GB" dirty="0"/>
              <a:t>https://zeet.co/blog/cicd-pipeline-best-practices#continuous-integration-ci-best-practices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C58304-4417-43CA-9D23-BC9519D4253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9906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2A9B-5B03-CD53-3F1B-8A64208B4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C2E4D-737E-C414-C623-9C5A0A985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574D2-66D0-C3B3-71D6-175166025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81C3B-E446-49F2-9098-64452C69EE24}" type="datetime1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E583C-06D8-E32D-3636-44624815E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1B894-E8F1-3E54-2BB3-260CD122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1416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EBD88-0580-2B58-4549-F3AD15AA0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A44AD-8404-643B-2CA6-35467827E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8A16B-A771-50D9-6818-CC7922E8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F5ACE-7A2C-4E89-BA71-DCD5B2EB9977}" type="datetime1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D70DC-A8AE-7C6C-38E5-F19420476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33DB7-7714-5C3B-20BA-E535EB8A6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6169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8107-2E74-D0A5-4F88-6CC9EBBC9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A93B05-86AD-58BA-547B-228E673BF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36A6B-8A5F-2E62-BABD-0A56723B2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7FF52-62A6-437B-B74D-B351B2495340}" type="datetime1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87BF6-D143-6760-5874-2B620F37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29B84-6466-9076-D18F-B947CF9C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3844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52AD-DB6F-CF92-DFBC-993165D7D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A3C49-B62D-D409-61FE-5CE55DA47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DDCE2-FD91-CD90-397C-F84E8CBDA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81233-52EE-15B2-FD72-330BEAFE3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5155A-AAF1-4C13-940D-B792FCDE9132}" type="datetime1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495D62-1F13-161D-3387-CFE53A697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A8079-73C9-E7DA-A8D4-7913AEEA2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079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CC91E-6DD3-7799-6D0C-F2AE24556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F05EF-7013-B734-D236-1B7B0F5E51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DF0B63-370F-F303-B7D4-2C9C5874C1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5DF3F1-E88E-342A-F984-B4CC2366F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B73AA9-3D4F-EE08-5EF8-C53645787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626AB9-11C0-7227-DC2A-2547E2A2E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FF50-B2A1-4022-9DBC-E39956D747BE}" type="datetime1">
              <a:rPr lang="en-GB" smtClean="0"/>
              <a:t>16/11/2025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FC4932-3680-E4A0-40B1-DDC85BD75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974678-62EA-5ABA-61C5-8DA7C6EA9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17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A7C86-B2F0-278B-59F7-A2DB4091B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946E-EBA9-7B23-9410-674B66B1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4EDA-A19B-4AE7-8F8B-269204775694}" type="datetime1">
              <a:rPr lang="en-GB" smtClean="0"/>
              <a:t>16/11/2025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C4D30F-20A7-BD1F-F36D-38CB35782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867CEF-ACBA-1063-AE14-4B833892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026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B848A6-BB8C-4455-FC09-6E32C3598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75C8B3-0CE5-4B69-ACF7-422316C99BC0}" type="datetime1">
              <a:rPr lang="en-GB" smtClean="0"/>
              <a:t>16/11/2025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B576BC-6DE2-C699-4371-874DB7AD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70E59-D378-BF44-A1E0-AF25034AD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75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BD3EE-B6A7-F3C4-9356-70B5C456D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62088-1A54-620C-6A67-CFA058EAF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F74FB-88CD-826E-D1EB-6CA1145FA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885A7-0E36-F31F-F284-803681FB5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6284-3810-4D2B-9626-43806EF020EB}" type="datetime1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9B496-FCDD-0763-3822-38EA507AB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D0199-384E-A778-8B84-E7C0930EC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61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EC302-5CE4-A0A6-1201-54EA7AEF5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4DA10-379B-D7EE-03E4-70EC3CCBFB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60682-2ABA-6109-2CB1-196C8748B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81CF9-1F07-2AE2-2ADD-D1B8FEE2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967AD-BE5B-4C1F-8F84-FD02C5A5DDCF}" type="datetime1">
              <a:rPr lang="en-GB" smtClean="0"/>
              <a:t>16/11/2025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17E7A-3ED8-E47A-C876-745D4E0E4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4DEDD-8968-5769-EA6B-8011864F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92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93FC4-F5E4-1F60-5CB9-09F5E44C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51030-ADDE-E7BB-D3D5-29CC84096C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9BCE3-7E67-4CE8-D37D-A92DE9D2B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407E8-89C0-425F-A3F4-A04436C1292D}" type="datetime1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F3292E-B309-90B2-1D80-053ECEE9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AD91D-303D-D595-182A-58D0B6AE8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2167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83541-ECB9-EC87-A162-E408D6A644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606F3-A8B4-6C44-5108-5DB35E561C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1D2C4-654C-379C-3FAC-A16375E1B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7C108-5850-4F01-A5E1-09DCD8DB7A3D}" type="datetime1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7D83E-E0D1-7687-7D5B-D51FBEFB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8314A-D582-EFFC-F238-1164E7E88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2089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DE33C2-C2A0-015E-3DB2-5BFF6B5FF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D3B36-0D2D-F70B-0E35-B3FD7F0BD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67CC7-1DFD-0AFA-8212-94255FBD6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67450-1B2F-40F8-8DBB-2C0C9FF09B5F}" type="datetime1">
              <a:rPr lang="en-GB" smtClean="0"/>
              <a:t>16/11/2025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61A52-6367-B093-422C-CCA3ABEAAC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068A4-6255-8F5A-BFBD-188D52768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6F766B-2798-4C05-8EED-59272ABAE36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532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53AC-8C63-807B-2E60-1716C0E564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CI/CD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F2A625-8735-AF05-E72C-30BAEA728F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4F9E5-F14E-64A0-5605-98E5DD88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79112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CF580-F582-B32A-6910-D10C3BF11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CB938-2494-2ED8-6DF4-0A32A49E0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Historical Background</a:t>
            </a:r>
          </a:p>
          <a:p>
            <a:r>
              <a:rPr lang="en-US" noProof="0" dirty="0"/>
              <a:t>Which Problem does it solve</a:t>
            </a:r>
          </a:p>
          <a:p>
            <a:r>
              <a:rPr lang="en-US" noProof="0" dirty="0"/>
              <a:t>Continus Delivery</a:t>
            </a:r>
          </a:p>
          <a:p>
            <a:r>
              <a:rPr lang="en-US" noProof="0" dirty="0"/>
              <a:t>Different usages and types</a:t>
            </a:r>
          </a:p>
          <a:p>
            <a:r>
              <a:rPr lang="en-US" noProof="0" dirty="0"/>
              <a:t>Alternatives</a:t>
            </a:r>
          </a:p>
          <a:p>
            <a:r>
              <a:rPr lang="en-US" noProof="0" dirty="0"/>
              <a:t>Best practices</a:t>
            </a:r>
          </a:p>
          <a:p>
            <a:r>
              <a:rPr lang="en-US" noProof="0" dirty="0"/>
              <a:t>Our Pipeline </a:t>
            </a:r>
          </a:p>
          <a:p>
            <a:pPr lvl="1"/>
            <a:r>
              <a:rPr lang="en-US" noProof="0" dirty="0"/>
              <a:t>How does our p</a:t>
            </a:r>
            <a:r>
              <a:rPr lang="en-US" dirty="0" err="1"/>
              <a:t>ipeline</a:t>
            </a:r>
            <a:r>
              <a:rPr lang="en-US" noProof="0" dirty="0"/>
              <a:t> work</a:t>
            </a:r>
          </a:p>
          <a:p>
            <a:pPr lvl="1"/>
            <a:r>
              <a:rPr lang="en-US" noProof="0" dirty="0"/>
              <a:t>Demo</a:t>
            </a:r>
          </a:p>
          <a:p>
            <a:r>
              <a:rPr lang="en-US" noProof="0" dirty="0"/>
              <a:t>Assignment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64E27-616B-2825-F694-C825880A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52525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2E89-3FDA-6A5B-B25A-5A37CE26E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History of CI/CD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82FD3-9107-8120-98F2-749930E75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CI/CD = </a:t>
            </a:r>
            <a:r>
              <a:rPr lang="en-US" i="1" noProof="0" dirty="0"/>
              <a:t>Continuous Integration</a:t>
            </a:r>
            <a:r>
              <a:rPr lang="en-US" noProof="0" dirty="0"/>
              <a:t> &amp; </a:t>
            </a:r>
            <a:r>
              <a:rPr lang="en-US" i="1" noProof="0" dirty="0"/>
              <a:t>Continuous Delivery/Deployment</a:t>
            </a:r>
          </a:p>
          <a:p>
            <a:r>
              <a:rPr lang="en-US" noProof="0" dirty="0"/>
              <a:t>Originated in the </a:t>
            </a:r>
            <a:r>
              <a:rPr lang="en-US" b="1" noProof="0" dirty="0"/>
              <a:t>late 1990s</a:t>
            </a:r>
            <a:r>
              <a:rPr lang="en-US" noProof="0" dirty="0"/>
              <a:t>, became mainstream in the </a:t>
            </a:r>
            <a:r>
              <a:rPr lang="en-US" b="1" noProof="0" dirty="0"/>
              <a:t>early 2010s</a:t>
            </a:r>
          </a:p>
          <a:p>
            <a:r>
              <a:rPr lang="en-US" noProof="0" dirty="0"/>
              <a:t>Goal: Automate build, test, and deployment processes</a:t>
            </a:r>
          </a:p>
          <a:p>
            <a:r>
              <a:rPr lang="en-US" noProof="0" dirty="0"/>
              <a:t>Today: Integrated into platforms like </a:t>
            </a:r>
            <a:r>
              <a:rPr lang="en-US" b="1" noProof="0" dirty="0"/>
              <a:t>GitHub</a:t>
            </a:r>
            <a:r>
              <a:rPr lang="en-US" noProof="0" dirty="0"/>
              <a:t> and </a:t>
            </a:r>
            <a:r>
              <a:rPr lang="en-US" b="1" noProof="0" dirty="0"/>
              <a:t>GitLab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D6323-B250-34DB-D4F3-6B75D73C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45892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216EB-EB70-42E7-24BA-B1B755C2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software used to be built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70E86-507D-83DE-6AA1-8A510BCB2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Developers built and tested software manually on their own computers</a:t>
            </a:r>
          </a:p>
          <a:p>
            <a:r>
              <a:rPr lang="en-US" noProof="0" dirty="0"/>
              <a:t>Every environment was different </a:t>
            </a:r>
            <a:r>
              <a:rPr lang="en-US" noProof="0" dirty="0">
                <a:sym typeface="Wingdings" panose="05000000000000000000" pitchFamily="2" charset="2"/>
              </a:rPr>
              <a:t> different libraries, setups, dependencies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Integrating code from several developers often caused conflicts and failure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Releases were rare, risky and stressful events</a:t>
            </a:r>
          </a:p>
          <a:p>
            <a:r>
              <a:rPr lang="en-US" noProof="0" dirty="0"/>
              <a:t>Problems:</a:t>
            </a:r>
          </a:p>
          <a:p>
            <a:pPr lvl="1"/>
            <a:r>
              <a:rPr lang="en-US" noProof="0" dirty="0"/>
              <a:t>Inconsistent environments </a:t>
            </a:r>
            <a:r>
              <a:rPr lang="en-US" noProof="0" dirty="0">
                <a:sym typeface="Wingdings" panose="05000000000000000000" pitchFamily="2" charset="2"/>
              </a:rPr>
              <a:t> unstable builds</a:t>
            </a:r>
          </a:p>
          <a:p>
            <a:pPr lvl="1"/>
            <a:r>
              <a:rPr lang="en-US" noProof="0" dirty="0">
                <a:sym typeface="Wingdings" panose="05000000000000000000" pitchFamily="2" charset="2"/>
              </a:rPr>
              <a:t>Large releases  many bugs</a:t>
            </a:r>
          </a:p>
          <a:p>
            <a:endParaRPr lang="en-US" noProof="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655BA-F185-6AC1-7D8D-DD3C20AC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76955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C4DA3-BF4B-23D0-0DE8-418A2F311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1st Generation: Beginning of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083A1-446C-2CB5-3C45-9F2B29FDC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sym typeface="Wingdings" panose="05000000000000000000" pitchFamily="2" charset="2"/>
              </a:rPr>
              <a:t>Growing teams needed a shared build </a:t>
            </a:r>
            <a:r>
              <a:rPr lang="en-US" noProof="0" dirty="0" err="1">
                <a:sym typeface="Wingdings" panose="05000000000000000000" pitchFamily="2" charset="2"/>
              </a:rPr>
              <a:t>enviroment</a:t>
            </a:r>
            <a:endParaRPr lang="en-US" noProof="0" dirty="0">
              <a:sym typeface="Wingdings" panose="05000000000000000000" pitchFamily="2" charset="2"/>
            </a:endParaRPr>
          </a:p>
          <a:p>
            <a:r>
              <a:rPr lang="en-US" noProof="0" dirty="0" err="1">
                <a:sym typeface="Wingdings" panose="05000000000000000000" pitchFamily="2" charset="2"/>
              </a:rPr>
              <a:t>Hostet</a:t>
            </a:r>
            <a:r>
              <a:rPr lang="en-US" noProof="0" dirty="0">
                <a:sym typeface="Wingdings" panose="05000000000000000000" pitchFamily="2" charset="2"/>
              </a:rPr>
              <a:t> on physical server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Manual setup and maintenance</a:t>
            </a:r>
          </a:p>
          <a:p>
            <a:r>
              <a:rPr lang="en-US" noProof="0" dirty="0"/>
              <a:t> First time builds were centralized, not done manually</a:t>
            </a:r>
            <a:endParaRPr lang="en-US" noProof="0" dirty="0">
              <a:sym typeface="Wingdings" panose="05000000000000000000" pitchFamily="2" charset="2"/>
            </a:endParaRPr>
          </a:p>
          <a:p>
            <a:r>
              <a:rPr lang="en-US" noProof="0" dirty="0">
                <a:sym typeface="Wingdings" panose="05000000000000000000" pitchFamily="2" charset="2"/>
              </a:rPr>
              <a:t>Examples</a:t>
            </a:r>
          </a:p>
          <a:p>
            <a:pPr lvl="1"/>
            <a:r>
              <a:rPr lang="en-US" noProof="0" dirty="0" err="1"/>
              <a:t>CruiseControl</a:t>
            </a:r>
            <a:r>
              <a:rPr lang="en-US" noProof="0" dirty="0"/>
              <a:t> (2001) </a:t>
            </a:r>
            <a:r>
              <a:rPr lang="en-US" noProof="0" dirty="0">
                <a:sym typeface="Wingdings" panose="05000000000000000000" pitchFamily="2" charset="2"/>
              </a:rPr>
              <a:t></a:t>
            </a:r>
            <a:r>
              <a:rPr lang="en-US" noProof="0" dirty="0"/>
              <a:t> </a:t>
            </a:r>
            <a:r>
              <a:rPr lang="en-US" noProof="0" dirty="0" err="1"/>
              <a:t>frist</a:t>
            </a:r>
            <a:r>
              <a:rPr lang="en-US" noProof="0" dirty="0"/>
              <a:t> popular CI tool</a:t>
            </a:r>
          </a:p>
          <a:p>
            <a:pPr lvl="1"/>
            <a:r>
              <a:rPr lang="en-US" noProof="0" dirty="0"/>
              <a:t>Hudon (2005) </a:t>
            </a:r>
            <a:r>
              <a:rPr lang="en-US" noProof="0" dirty="0">
                <a:sym typeface="Wingdings" panose="05000000000000000000" pitchFamily="2" charset="2"/>
              </a:rPr>
              <a:t> renamed Jenkins (2011) after Oracle dispute</a:t>
            </a:r>
          </a:p>
          <a:p>
            <a:pPr lvl="1"/>
            <a:r>
              <a:rPr lang="en-US" noProof="0" dirty="0">
                <a:sym typeface="Wingdings" panose="05000000000000000000" pitchFamily="2" charset="2"/>
              </a:rPr>
              <a:t>Team City (2006) from JetBrains</a:t>
            </a:r>
          </a:p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76E18-CAAE-8F1A-90AB-D44FE509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02474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FB8C5-869D-1397-14E3-AEF3988B9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2nd Generation: From server to the cloud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B97FA-F7F7-CC66-6FC4-3F4BDBED0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Cloud Adaption in the 2010s </a:t>
            </a:r>
            <a:r>
              <a:rPr lang="en-US" noProof="0" dirty="0">
                <a:sym typeface="Wingdings" panose="05000000000000000000" pitchFamily="2" charset="2"/>
              </a:rPr>
              <a:t> CI moved online (CI-as-a-Service)</a:t>
            </a:r>
          </a:p>
          <a:p>
            <a:r>
              <a:rPr lang="en-US" noProof="0" dirty="0"/>
              <a:t>Benefits:</a:t>
            </a:r>
          </a:p>
          <a:p>
            <a:pPr lvl="1"/>
            <a:r>
              <a:rPr lang="en-US" noProof="0" dirty="0"/>
              <a:t>No server to maintain</a:t>
            </a:r>
          </a:p>
          <a:p>
            <a:pPr lvl="1"/>
            <a:r>
              <a:rPr lang="en-US" noProof="0" dirty="0"/>
              <a:t>Easy integration with cloud and GitHub</a:t>
            </a:r>
          </a:p>
          <a:p>
            <a:pPr lvl="1"/>
            <a:r>
              <a:rPr lang="en-US" noProof="0" dirty="0"/>
              <a:t>CI </a:t>
            </a:r>
            <a:r>
              <a:rPr lang="en-US" noProof="0" dirty="0" err="1"/>
              <a:t>becames</a:t>
            </a:r>
            <a:r>
              <a:rPr lang="en-US" noProof="0" dirty="0"/>
              <a:t> accessible to everyone, not just large companies</a:t>
            </a:r>
          </a:p>
          <a:p>
            <a:r>
              <a:rPr lang="en-US" noProof="0" dirty="0"/>
              <a:t>Examples</a:t>
            </a:r>
          </a:p>
          <a:p>
            <a:pPr lvl="1"/>
            <a:r>
              <a:rPr lang="en-US" noProof="0" dirty="0"/>
              <a:t>Travis CI (2011) – first GitHub-integrated CI</a:t>
            </a:r>
          </a:p>
          <a:p>
            <a:pPr lvl="1"/>
            <a:r>
              <a:rPr lang="en-US" noProof="0" dirty="0" err="1"/>
              <a:t>CircleCI</a:t>
            </a:r>
            <a:r>
              <a:rPr lang="en-US" noProof="0" dirty="0"/>
              <a:t> (2011) – faster, introduced Docker support</a:t>
            </a:r>
          </a:p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225E0-75CE-1121-4CD2-F51CFF27A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8083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EA02-D154-F12A-2CFF-C91A18E78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3rd Generation: CI/CD becomes part of code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C4BDF-F650-0A4D-3EE9-3BD6BDE5B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Integrated with Git Hosting</a:t>
            </a:r>
          </a:p>
          <a:p>
            <a:r>
              <a:rPr lang="en-US" noProof="0" dirty="0"/>
              <a:t>No need for external CI tools</a:t>
            </a:r>
          </a:p>
          <a:p>
            <a:r>
              <a:rPr lang="en-US" noProof="0" dirty="0"/>
              <a:t>Reusable workflows and community-driven ecosystem</a:t>
            </a:r>
          </a:p>
          <a:p>
            <a:r>
              <a:rPr lang="en-US" noProof="0" dirty="0"/>
              <a:t>CI/CD is standard for modern software teams</a:t>
            </a:r>
          </a:p>
          <a:p>
            <a:r>
              <a:rPr lang="en-US" noProof="0" dirty="0"/>
              <a:t>Examples</a:t>
            </a:r>
          </a:p>
          <a:p>
            <a:pPr lvl="1"/>
            <a:r>
              <a:rPr lang="en-US" noProof="0" dirty="0"/>
              <a:t>GitLab CI/CD (2015) – first fully integrated CI/CD in Git hosting</a:t>
            </a:r>
          </a:p>
          <a:p>
            <a:pPr lvl="1"/>
            <a:r>
              <a:rPr lang="en-US" noProof="0" dirty="0"/>
              <a:t>GitHub Action (2018) – built-in automation + reusable “Actions”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4B846-B8B9-140A-5F77-4ACFF2BF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8072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6FFBC-01F2-62FD-39B8-93CAEC24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Relevancy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90E5C8-0057-B6BF-B829-FDFA0179D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Dev-</a:t>
            </a:r>
            <a:r>
              <a:rPr lang="de-DE" dirty="0" err="1"/>
              <a:t>Op</a:t>
            </a:r>
            <a:r>
              <a:rPr lang="de-DE" dirty="0"/>
              <a:t> </a:t>
            </a:r>
            <a:r>
              <a:rPr lang="de-DE" dirty="0" err="1"/>
              <a:t>Activities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becoming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popular</a:t>
            </a:r>
          </a:p>
          <a:p>
            <a:r>
              <a:rPr lang="de-DE" dirty="0"/>
              <a:t>CI / CD </a:t>
            </a:r>
            <a:r>
              <a:rPr lang="de-DE" dirty="0" err="1"/>
              <a:t>automation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one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most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Dev </a:t>
            </a:r>
            <a:r>
              <a:rPr lang="de-DE" dirty="0" err="1"/>
              <a:t>Op</a:t>
            </a:r>
            <a:r>
              <a:rPr lang="de-DE" dirty="0"/>
              <a:t> </a:t>
            </a:r>
            <a:r>
              <a:rPr lang="de-DE" dirty="0" err="1"/>
              <a:t>activity</a:t>
            </a:r>
          </a:p>
          <a:p>
            <a:r>
              <a:rPr lang="de-DE" dirty="0"/>
              <a:t>Automation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Testing</a:t>
            </a:r>
            <a:r>
              <a:rPr lang="de-DE" dirty="0"/>
              <a:t> and </a:t>
            </a:r>
            <a:r>
              <a:rPr lang="de-DE" dirty="0" err="1"/>
              <a:t>Deployment</a:t>
            </a:r>
            <a:r>
              <a:rPr lang="de-DE" dirty="0"/>
              <a:t> 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989FD9-F9C0-A930-E4D7-9E0BC51F1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059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A1522-BB82-4678-89CE-C1F6DA3B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Which Problem does it solve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72A1A3E6-59CC-D446-A9A3-09A904A3A5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7028398"/>
              </p:ext>
            </p:extLst>
          </p:nvPr>
        </p:nvGraphicFramePr>
        <p:xfrm>
          <a:off x="838200" y="1825625"/>
          <a:ext cx="10515597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1334708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36061689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910638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noProof="0" dirty="0"/>
                        <a:t>Process Step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Without CI/CD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With CI/CD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98112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New Feature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Manual, often incomplete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Automated testing runs immediately after each commit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570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noProof="0" dirty="0"/>
                        <a:t>Error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Detected late — during manual testing or even in 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Detected early through automated checks and unit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513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Test Environment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Manual, inconsistent, error-prone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Automated and consistent across all environments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3353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noProof="0" dirty="0"/>
                        <a:t>Go-Live /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Manual deployment, often done at night or weekends to avoid downtime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Automated, scheduled deployments with rollback options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547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Team Workload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High manual effort, stressful release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Streamlined workflow, faster feedback, and fewer errors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553044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07D7A8-EAED-4A35-36B3-745BA5374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23887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C2251-F791-DD7A-8D5A-56F350E3C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1. Principle of the Agile Manifesto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A8EE2-B5DD-70CF-B443-220FCEC10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Our highest priority is to satisfy the customer</a:t>
            </a:r>
            <a:br>
              <a:rPr lang="en-US" noProof="0" dirty="0"/>
            </a:br>
            <a:r>
              <a:rPr lang="en-US" noProof="0" dirty="0"/>
              <a:t>through early and continuous delivery</a:t>
            </a:r>
            <a:br>
              <a:rPr lang="en-US" noProof="0" dirty="0"/>
            </a:br>
            <a:r>
              <a:rPr lang="en-US" noProof="0" dirty="0"/>
              <a:t>of valuable software.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4987E-4F14-B796-7345-5FFCE589C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10</a:t>
            </a:fld>
            <a:endParaRPr lang="en-US" noProof="0" dirty="0"/>
          </a:p>
        </p:txBody>
      </p:sp>
      <p:pic>
        <p:nvPicPr>
          <p:cNvPr id="6" name="Picture 5" descr="A group of people standing in a room&#10;&#10;AI-generated content may be incorrect.">
            <a:extLst>
              <a:ext uri="{FF2B5EF4-FFF2-40B4-BE49-F238E27FC236}">
                <a16:creationId xmlns:a16="http://schemas.microsoft.com/office/drawing/2014/main" id="{F8B7A5B5-9AAE-0F78-41CC-BE1345558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371" y="2939461"/>
            <a:ext cx="4477731" cy="335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110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1BB0E-7413-7D41-C206-61720A568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132C5-F13A-DE9D-6AB7-ABF08D58E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🔁 Agile = </a:t>
            </a:r>
            <a:r>
              <a:rPr lang="en-US" b="1" noProof="0" dirty="0"/>
              <a:t>Philosophy of continuous improvement</a:t>
            </a:r>
          </a:p>
          <a:p>
            <a:r>
              <a:rPr lang="en-US" noProof="0" dirty="0"/>
              <a:t>⚙️ Continuous Delivery = </a:t>
            </a:r>
            <a:r>
              <a:rPr lang="en-US" b="1" noProof="0" dirty="0"/>
              <a:t>Technical implementation of this philosophy</a:t>
            </a:r>
          </a:p>
          <a:p>
            <a:endParaRPr lang="en-US" b="1" noProof="0" dirty="0"/>
          </a:p>
          <a:p>
            <a:endParaRPr lang="en-US" b="1" noProof="0" dirty="0"/>
          </a:p>
          <a:p>
            <a:r>
              <a:rPr lang="en-US" noProof="0" dirty="0"/>
              <a:t>After each sprint: a </a:t>
            </a:r>
            <a:r>
              <a:rPr lang="en-US" b="1" noProof="0" dirty="0"/>
              <a:t>production-ready version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61F7C-1A90-97DD-5CA3-A39448D8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6" name="Picture 5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284446B8-3834-7E9E-D924-B392E53BC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6245" y="3860277"/>
            <a:ext cx="3895627" cy="2597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019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8C690-94D6-0824-53BE-C69999363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Different Usages and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1F2C7-549B-3F3A-F9B4-AB78C4682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Different usages of a CI CD pipeline include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Automatic building, testing and deployment of applications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//TODO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97CF8-5105-4895-153F-A234CCD36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29117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6DD5-ADFE-333F-0E14-1CB29714A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Alternatives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069AE-10A2-1480-5F5B-5B301EC3B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Classic “old school” way </a:t>
            </a:r>
          </a:p>
          <a:p>
            <a:r>
              <a:rPr lang="en-US" noProof="0" dirty="0"/>
              <a:t>CI (without CD)</a:t>
            </a:r>
          </a:p>
          <a:p>
            <a:r>
              <a:rPr lang="en-US" noProof="0" dirty="0" err="1"/>
              <a:t>GitOps</a:t>
            </a:r>
            <a:endParaRPr lang="en-US" noProof="0" dirty="0"/>
          </a:p>
          <a:p>
            <a:pPr lvl="1"/>
            <a:r>
              <a:rPr lang="en-US" noProof="0" dirty="0"/>
              <a:t>Using Git repositories as the single source of truth.</a:t>
            </a:r>
          </a:p>
          <a:p>
            <a:pPr lvl="1"/>
            <a:r>
              <a:rPr lang="en-US" noProof="0" dirty="0"/>
              <a:t>implement infrastructure automation</a:t>
            </a:r>
          </a:p>
          <a:p>
            <a:r>
              <a:rPr lang="en-GB" dirty="0"/>
              <a:t>Daily / Nightly Builds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D13A6-062B-72F6-8C05-8657FA351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8935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7FCC8-B86C-3051-80B9-888D3500B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Best practices – CI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4A3C-9BF2-9072-C4F1-8A0134456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3209"/>
            <a:ext cx="10515600" cy="4351338"/>
          </a:xfrm>
        </p:spPr>
        <p:txBody>
          <a:bodyPr/>
          <a:lstStyle/>
          <a:p>
            <a:r>
              <a:rPr lang="en-US" noProof="0" dirty="0"/>
              <a:t>Frequent commits</a:t>
            </a:r>
          </a:p>
          <a:p>
            <a:r>
              <a:rPr lang="en-US" noProof="0" dirty="0"/>
              <a:t>Embrace Continuous Integration</a:t>
            </a:r>
          </a:p>
          <a:p>
            <a:r>
              <a:rPr lang="en-US" noProof="0" dirty="0"/>
              <a:t>Write Comprehensive Tests</a:t>
            </a:r>
          </a:p>
          <a:p>
            <a:r>
              <a:rPr lang="en-US" noProof="0" dirty="0"/>
              <a:t>Fast feedback</a:t>
            </a:r>
            <a:endParaRPr lang="en-US" b="1" noProof="0" dirty="0"/>
          </a:p>
          <a:p>
            <a:endParaRPr lang="en-US" b="1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5D173-BCA1-6F98-07D6-3048889AE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1773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4E2A-3E16-CFCA-8448-BA519B63F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Best practices – CD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BF442-5544-4E5B-E2C8-20F4A77B3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 err="1"/>
              <a:t>Infrastrucutre</a:t>
            </a:r>
            <a:r>
              <a:rPr lang="en-US" noProof="0" dirty="0"/>
              <a:t> as Code (</a:t>
            </a:r>
            <a:r>
              <a:rPr lang="en-US" noProof="0" dirty="0" err="1"/>
              <a:t>IaC</a:t>
            </a:r>
            <a:r>
              <a:rPr lang="en-US" noProof="0" dirty="0"/>
              <a:t>)</a:t>
            </a:r>
          </a:p>
          <a:p>
            <a:r>
              <a:rPr lang="en-US" noProof="0" dirty="0"/>
              <a:t>Blue/Green Deployments</a:t>
            </a:r>
          </a:p>
          <a:p>
            <a:r>
              <a:rPr lang="en-US" noProof="0" dirty="0" err="1"/>
              <a:t>Canaray</a:t>
            </a:r>
            <a:r>
              <a:rPr lang="en-US" noProof="0" dirty="0"/>
              <a:t> Releases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4CC35-A242-061B-7AD6-C82EF2F2E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41328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7CF4C-4686-4617-A393-135C48DC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Best practices – Feedback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C8B7A-2438-4505-3EC8-DDA605633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Key Performance Indicators</a:t>
            </a:r>
          </a:p>
          <a:p>
            <a:r>
              <a:rPr lang="en-US" dirty="0"/>
              <a:t>Automated Monitoring </a:t>
            </a:r>
          </a:p>
          <a:p>
            <a:r>
              <a:rPr lang="en-GB" dirty="0"/>
              <a:t>Retrospectives and Continuous Improvement</a:t>
            </a:r>
          </a:p>
          <a:p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DFAAC-7345-DB4F-8089-AC012928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766B-2798-4C05-8EED-59272ABAE36A}" type="slidenum">
              <a:rPr lang="en-US" noProof="0" smtClean="0"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5630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1260</Words>
  <Application>Microsoft Office PowerPoint</Application>
  <PresentationFormat>Widescreen</PresentationFormat>
  <Paragraphs>194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Wingdings</vt:lpstr>
      <vt:lpstr>Office Theme</vt:lpstr>
      <vt:lpstr>CI/CD Workshop</vt:lpstr>
      <vt:lpstr>Agenda</vt:lpstr>
      <vt:lpstr>History of CI/CD</vt:lpstr>
      <vt:lpstr>How software used to be built</vt:lpstr>
      <vt:lpstr>1st Generation: Beginning of automation</vt:lpstr>
      <vt:lpstr>2nd Generation: From server to the cloud</vt:lpstr>
      <vt:lpstr>3rd Generation: CI/CD becomes part of code platform</vt:lpstr>
      <vt:lpstr>Relevancy</vt:lpstr>
      <vt:lpstr>Which Problem does it solve</vt:lpstr>
      <vt:lpstr>1. Principle of the Agile Manifesto</vt:lpstr>
      <vt:lpstr>PowerPoint Presentation</vt:lpstr>
      <vt:lpstr>Different Usages and Types</vt:lpstr>
      <vt:lpstr>Alternatives</vt:lpstr>
      <vt:lpstr>Best practices – CI</vt:lpstr>
      <vt:lpstr>Best practices – CD</vt:lpstr>
      <vt:lpstr>Best practices – Feedback loop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Elias</dc:creator>
  <cp:lastModifiedBy>Elias</cp:lastModifiedBy>
  <cp:revision>28</cp:revision>
  <dcterms:created xsi:type="dcterms:W3CDTF">2025-10-24T13:35:31Z</dcterms:created>
  <dcterms:modified xsi:type="dcterms:W3CDTF">2025-11-16T21:38:29Z</dcterms:modified>
</cp:coreProperties>
</file>